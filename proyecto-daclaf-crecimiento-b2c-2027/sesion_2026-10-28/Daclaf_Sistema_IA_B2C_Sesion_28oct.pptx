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9a7a3be2-c33a-dc91-4573-670872b6161e}">
          <p14:sldIdLst>
            <p14:sldId id="256"/>
          </p14:sldIdLst>
        </p14:section>
        <p14:section name="Contexto" id="{abeca480-d33e-d1a9-d965-f6ad132d05d5}">
          <p14:sldIdLst>
            <p14:sldId id="257"/>
            <p14:sldId id="258"/>
          </p14:sldIdLst>
        </p14:section>
        <p14:section name="Diseño" id="{7f8bcb04-75a2-4bfb-b9e6-607a3af23232}">
          <p14:sldIdLst>
            <p14:sldId id="259"/>
            <p14:sldId id="260"/>
            <p14:sldId id="261"/>
          </p14:sldIdLst>
        </p14:section>
        <p14:section name="Plan" id="{2612ad8d-dc11-f17d-0e0b-8177d30fc378}">
          <p14:sldIdLst>
            <p14:sldId id="262"/>
            <p14:sldId id="263"/>
          </p14:sldIdLst>
        </p14:section>
        <p14:section name="Preguntas en vivo" id="{e07b843a-cd33-8c31-cd4f-7fc174135a1b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objetivo de la sesión: acordar el diseño, cerrar decisiones y capturar respuestas. Duración sugerida: 10 min de diseño, resto en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B2C crece 5–10 % anual y depende de una marca. Con 43 productos publicados hoy, llegar a 300 exige 8–9 lanzamientos al mes en 3 años. Aclarar que el catálogo web no es el maestro de artículos.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abajo hacia arriba: gobierno de datos, obtención de información, registro de evidencia, análisis, entregables y decisión humana. Idea central: las IA son intercambiables porque todas reciben el mismo encargo y entregan en el mismo formato; sin fila en el registro de evidencia, una cifra no entra a una ficha ni al presupuesto.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Claude: Califica oportunidades, arma el modelo, redacta fichas y presupuesto
NotebookLM / Gemini: Regulación, reportes de Hypera y Cimed, documentos internos
Perplexity: Tamaño y tendencia de una categoría, precios en anaquel
Genspark: Universo de productos por categoría, tablas comparativas
Manus: Levantar catálogos de competidores en retail y marketplaces
ChatGPT: Ataca los supuestos del ranking antes de llegar a ustedes
Las capacidades de cada herramienta cambian con frecuencia: se prueba cada una con una tarea piloto antes de darle carga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 Línea base: Qué se vende hoy y qué no, por marca y entidad · Con: Maestro NetSuite + ventas por SKU · Entrega: Tabla base y diagnóstico de datos maestros
E1 Universo: Qué se podría lanzar: extensiones de marcas actuales y categorías nuevas · Con: Perplexity, Genspark · Entrega: Lista larga con fuente
E2 Filtro regulatorio: Carril A (extensión), B (cosmético o suplemento) o C (OTC con registro) · Con: NotebookLM + Claude · Entrega: Carril y tiempo estimado
E3 Atractivo de mercado: Tamaño, crecimiento, precio, competidores, reseñas · Con: Perplexity, Manus · Entrega: Evidencia en el registro
E4 Hacer, Maquilar o Asociarse: Planta Lerma, maquila, licencia de dossier o collab · Con: Claude (datos internos) · Entrega: Matriz por SKU
E5 Priorización: Calificación ponderada y prueba de sensibilidad · Con: Claude + segunda opinión · Entrega: Ranking y shortlist
E6 Compuerta 1: Ficha de una página por candidato · Con: Claude · Entrega: Fichas
E7 Presupuesto 2027: Qué cuesta desarrollar, registrar y producir el pipeline · Con: Claude + Excel · Entrega: Escenarios
Criterios de calificación propuestos (los pesos los fijan David y Sara): Atractivo de mercado; Ajuste a la marca y a sus claims; Velocidad al mercado (carril); Margen estimado; Ajuste de manufactura; Riesgo de inventario y caducidad; Absorción del canal.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DACLAF aún no tiene política de TI para IA. Proponemos esta regla mínima mientras se define una. Pedir autorización explícita para el Project compartido (pregunta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consultor estará ausente del 17 de noviembre al 3 de diciembre; por eso la entrega parcial del 13 de noviembre incluye ranking preliminar y guía de uso del Project compartido.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estas cuatro decisiones el trabajo de esta semana puede arrancar: definir la meta, aprobar reglas de datos, comprometer la línea base y nombrar contrapartes.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¿La meta es llegar a 300 SKUs en cartera o lanzar 300 productos? ¿Cuentan kits, presentaciones y ediciones limitadas como SKU?
Por qué importa: Con 43–50 SKUs hoy, la diferencia es de unos 250 netos más la reposición de los que salgan. Cambia el embudo y el presupuesto.
Q2 ¿El horizonte para llegar a la meta es de 2 años (150 al año, 12–13 al mes) o de 3 años (100 al año, 8–9 al mes)?
Por qué importa: Define el ritmo de la célula de lanzamientos y la carga del Presupuesto 2027.
Q3 ¿Quién puede entregar el maestro de artículos de NetSuite (DF y DAS) y las ventas por SKU y marca de 2024 a 2026, y para qué fecha?
Por qué importa: Sin esto no hay punto de partida. El catálogo web no es el maestro.
Q4 ¿Cuántos productos se lanzaron en 2024 y 2025, en cuánto tiempo, y en qué paso se atora hoy un lanzamiento: regulatorio, diseño, compras, aprobaciones, maquila o alta en NetSuite?
Por qué importa: El 'cuello de botella' decide dónde automatizar y qué plataformas reutilizables construir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 ¿Cuál es la mezcla esperada: extender marcas actuales, crear marcas nuevas o adquirirlas? ¿Qué categorías van primero: protección y post-solar, cuidado personal, suplementos, OTC, mascotas?
Por qué importa: Seis marcas tienen entre 1 y 4 productos: ahí hay espacio sin crear marcas. Define a quién investigamos primero.
Q6 ¿Qué capacidad tiene Lerma (incluida la línea WDS), qué proporción del volumen nuevo iría a maquila y existen maquiladores ya calificados por categoría? ¿Quién responde por Operaciones?
Por qué importa: El ritmo de lanzamiento no puede superar la capacidad de surtir.
Q7 ¿Hay registros sanitarios OTC vigentes que se puedan extender o trámites en curso? ¿Hay apetito por adquirir dossiers? ¿Quién de Asuntos Regulatorios validará lo que proponga el sistema?
Por qué importa: El carril OTC tiene ciclo largo y debe arrancar ya. El sistema no sustituye el criterio de Regulatorio.
Q8 ¿Cuál es el criterio de éxito de un SKU a 6 y a 12 meses (venta mínima, margen, rotación)? ¿Existe hoy una regla de descontinuación y qué tolerancia hay a SKUs que fracasan o a inventario próximo a caducar?
Por qué importa: Sin regla de salida, 300 SKUs multiplican inventario, caducidades y artículos en NetSuite.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Q9 ¿Existe un rango o techo para desarrollo, registros e inventario inicial del 2027? ¿Quién de Finanzas participa en la revisión?
Por qué importa: Permite dimensionar escenarios realistas en lugar de un plan sin restricción.
Q10 ¿Autoriza compartir ventas por SKU y capacidad en un Project compartido que opera Practical AI, con acceso para David y Sara? ¿Aprueba la regla mínima: a herramientas externas solo va información pública o anonimizada?
Por qué importa: DACLAF aún no tiene política de TI para IA. Esta regla mínima protege la información crítica mientras se define una.
Q11 ¿Quién será el líder del acelerador, a quién reporta y qué decisiones puede tomar sin escalar?
Por qué importa: Una célula sin autoridad de decisión repite el problema actual.
Q12 ¿Qué canales pueden absorber lanzamientos y con qué apetito? ¿Qué compromisos derivan de la licitación 2027 de Similares?
Por qué importa: Los canales tienen un límite real para recibir novedades.
Q13 ¿Se explora la categoría de suplementos para mascotas en canal veterinario? ¿Quién la lidera y con qué criterio se decide?
Por qué importa: Quedó como idea preliminar; sin responsable no avanza.
Q14 ¿Qué documentos pueden compartir esta semana (ventas, benchmarks, competidores que monitorean) y cuándo es la siguiente sesión?
Por qué importa: Alimenta el Project y fija el ritmo de trabajo antes de la pausa del 17 de noviembre.
Las respuestas se capturan en el HTML interactivo (botón "Copiar resumen" al final).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Practical AI® · Documento de trabajo generado con asistencia de IA · Confidencial, uso interno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48006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Practical AI® · Documento de trabajo generado con asistencia de IA · Confidencial, uso interno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GRUPO DACLAF · SESIÓN DE TRABAJO</a:t>
            </a:r>
            <a:endParaRPr lang="en-US" sz="1300" dirty="0"/>
          </a:p>
        </p:txBody>
      </p:sp>
      <p:sp>
        <p:nvSpPr>
          <p:cNvPr id="3" name="Titulo"/>
          <p:cNvSpPr txBox="1"/>
          <p:nvPr/>
        </p:nvSpPr>
        <p:spPr>
          <a:xfrm>
            <a:off x="640080" y="132588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 sistema de inteligencia para llegar a 300 SKUs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Varias IA con roles claros, datos protegidos y decisiones en manos de David y Sara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28 de octubre de 2026 · 12:30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reto en cuatro cifras</a:t>
            </a:r>
            <a:endParaRPr lang="en-US" sz="3200" dirty="0"/>
          </a:p>
        </p:txBody>
      </p:sp>
      <p:sp>
        <p:nvSpPr>
          <p:cNvPr id="3" name="Cifra 1"/>
          <p:cNvSpPr/>
          <p:nvPr/>
        </p:nvSpPr>
        <p:spPr>
          <a:xfrm>
            <a:off x="457200" y="123444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945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productos publicados hoy en daclaf.com (34 individuales + 9 kits)</a:t>
            </a:r>
            <a:endParaRPr lang="en-US" sz="1400" dirty="0"/>
          </a:p>
        </p:txBody>
      </p:sp>
      <p:sp>
        <p:nvSpPr>
          <p:cNvPr id="6" name="Cifra 2"/>
          <p:cNvSpPr/>
          <p:nvPr/>
        </p:nvSpPr>
        <p:spPr>
          <a:xfrm>
            <a:off x="2560320" y="123444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300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1945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SKUs en 5–6 marcas: la meta, en 2–3 años</a:t>
            </a:r>
            <a:endParaRPr lang="en-US" sz="1400" dirty="0"/>
          </a:p>
        </p:txBody>
      </p:sp>
      <p:sp>
        <p:nvSpPr>
          <p:cNvPr id="9" name="Cifra 3"/>
          <p:cNvSpPr/>
          <p:nvPr/>
        </p:nvSpPr>
        <p:spPr>
          <a:xfrm>
            <a:off x="4663440" y="123444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8–9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945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lanzamientos al mes si el plazo es de 3 años (100 al año)</a:t>
            </a:r>
            <a:endParaRPr lang="en-US" sz="1400" dirty="0"/>
          </a:p>
        </p:txBody>
      </p:sp>
      <p:sp>
        <p:nvSpPr>
          <p:cNvPr id="12" name="Cifra 4"/>
          <p:cNvSpPr/>
          <p:nvPr/>
        </p:nvSpPr>
        <p:spPr>
          <a:xfrm>
            <a:off x="6766560" y="123444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~50%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1945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las ventas B2C en una sola marca (Fotosun, 10–12 SKUs)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Fuentes: catálogo daclaf.com (26-oct), reunión del 26-oct y documento "Acelerador de Lanzamientos". Línea base oficial: maestro NetSuite [POR CONFIRMAR].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sistema en seis capas</a:t>
            </a:r>
            <a:endParaRPr lang="en-US" sz="3200" dirty="0"/>
          </a:p>
        </p:txBody>
      </p:sp>
      <p:sp>
        <p:nvSpPr>
          <p:cNvPr id="3" name="Capa Decisión humana"/>
          <p:cNvSpPr/>
          <p:nvPr/>
        </p:nvSpPr>
        <p:spPr>
          <a:xfrm>
            <a:off x="457200" y="1188720"/>
            <a:ext cx="8229600" cy="512064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Decisión humana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1887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David y Sara deciden en 3 compuertas</a:t>
            </a:r>
            <a:endParaRPr lang="en-US" sz="1400" dirty="0"/>
          </a:p>
        </p:txBody>
      </p:sp>
      <p:sp>
        <p:nvSpPr>
          <p:cNvPr id="6" name="Capa Entregables"/>
          <p:cNvSpPr/>
          <p:nvPr/>
        </p:nvSpPr>
        <p:spPr>
          <a:xfrm>
            <a:off x="457200" y="1773936"/>
            <a:ext cx="8229600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7393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Entregables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77393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Fichas, modelo, tablero, Presupuesto 2027</a:t>
            </a:r>
            <a:endParaRPr lang="en-US" sz="1400" dirty="0"/>
          </a:p>
        </p:txBody>
      </p:sp>
      <p:sp>
        <p:nvSpPr>
          <p:cNvPr id="9" name="Capa Análisis y priorización"/>
          <p:cNvSpPr/>
          <p:nvPr/>
        </p:nvSpPr>
        <p:spPr>
          <a:xfrm>
            <a:off x="457200" y="2359152"/>
            <a:ext cx="8229600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5915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Análisis y priorización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35915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Claude en un Project compartido</a:t>
            </a:r>
            <a:endParaRPr lang="en-US" sz="1400" dirty="0"/>
          </a:p>
        </p:txBody>
      </p:sp>
      <p:sp>
        <p:nvSpPr>
          <p:cNvPr id="12" name="Capa Registro de evidencia"/>
          <p:cNvSpPr/>
          <p:nvPr/>
        </p:nvSpPr>
        <p:spPr>
          <a:xfrm>
            <a:off x="457200" y="2944368"/>
            <a:ext cx="8229600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4436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Registro de evidencia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94436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Cada cifra con fuente, fecha y confianza</a:t>
            </a:r>
            <a:endParaRPr lang="en-US" sz="1400" dirty="0"/>
          </a:p>
        </p:txBody>
      </p:sp>
      <p:sp>
        <p:nvSpPr>
          <p:cNvPr id="15" name="Capa Obtención de información"/>
          <p:cNvSpPr/>
          <p:nvPr/>
        </p:nvSpPr>
        <p:spPr>
          <a:xfrm>
            <a:off x="457200" y="3529584"/>
            <a:ext cx="8229600" cy="512064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2958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Obtención de información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52958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Varias IA con roles distintos</a:t>
            </a:r>
            <a:endParaRPr lang="en-US" sz="1400" dirty="0"/>
          </a:p>
        </p:txBody>
      </p:sp>
      <p:sp>
        <p:nvSpPr>
          <p:cNvPr id="18" name="Capa Gobierno de datos"/>
          <p:cNvSpPr/>
          <p:nvPr/>
        </p:nvSpPr>
        <p:spPr>
          <a:xfrm>
            <a:off x="457200" y="4114800"/>
            <a:ext cx="8229600" cy="512064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1148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Gobierno de datos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11480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Qué información puede ir a qué herramienta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Quién hace qué</a:t>
            </a:r>
            <a:endParaRPr lang="en-US" sz="3200" dirty="0"/>
          </a:p>
        </p:txBody>
      </p:sp>
      <p:sp>
        <p:nvSpPr>
          <p:cNvPr id="3" name="Herramienta Claude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Claude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Orquestador y analista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Datos: N1 · N2 · N3</a:t>
            </a:r>
            <a:endParaRPr lang="en-US" sz="1200" dirty="0"/>
          </a:p>
        </p:txBody>
      </p:sp>
      <p:sp>
        <p:nvSpPr>
          <p:cNvPr id="7" name="Herramienta NotebookLM / Gemini"/>
          <p:cNvSpPr/>
          <p:nvPr/>
        </p:nvSpPr>
        <p:spPr>
          <a:xfrm>
            <a:off x="3291840" y="118872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NotebookLM / Gemini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Corpus cerrado con citas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Datos: N1 · N2</a:t>
            </a:r>
            <a:endParaRPr lang="en-US" sz="1200" dirty="0"/>
          </a:p>
        </p:txBody>
      </p:sp>
      <p:sp>
        <p:nvSpPr>
          <p:cNvPr id="11" name="Herramienta Perplexity"/>
          <p:cNvSpPr/>
          <p:nvPr/>
        </p:nvSpPr>
        <p:spPr>
          <a:xfrm>
            <a:off x="6126480" y="118872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Perplexity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Investigación con fuentes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Datos: N1</a:t>
            </a:r>
            <a:endParaRPr lang="en-US" sz="1200" dirty="0"/>
          </a:p>
        </p:txBody>
      </p:sp>
      <p:sp>
        <p:nvSpPr>
          <p:cNvPr id="15" name="Herramienta Genspark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Genspark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387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Barrido amplio de oportunidades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Datos: N1</a:t>
            </a:r>
            <a:endParaRPr lang="en-US" sz="1200" dirty="0"/>
          </a:p>
        </p:txBody>
      </p:sp>
      <p:sp>
        <p:nvSpPr>
          <p:cNvPr id="19" name="Herramienta Manus"/>
          <p:cNvSpPr/>
          <p:nvPr/>
        </p:nvSpPr>
        <p:spPr>
          <a:xfrm>
            <a:off x="3291840" y="29718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Manus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5387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Tareas largas autónomas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Datos: N1</a:t>
            </a:r>
            <a:endParaRPr lang="en-US" sz="1200" dirty="0"/>
          </a:p>
        </p:txBody>
      </p:sp>
      <p:sp>
        <p:nvSpPr>
          <p:cNvPr id="23" name="Herramienta ChatGPT"/>
          <p:cNvSpPr/>
          <p:nvPr/>
        </p:nvSpPr>
        <p:spPr>
          <a:xfrm>
            <a:off x="6126480" y="29718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ChatGPT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5387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Segunda opinión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Datos: N1 · anonimizado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Del universo a la lista corta</a:t>
            </a:r>
            <a:endParaRPr lang="en-US" sz="3200" dirty="0"/>
          </a:p>
        </p:txBody>
      </p:sp>
      <p:sp>
        <p:nvSpPr>
          <p:cNvPr id="3" name="Etapa E0"/>
          <p:cNvSpPr/>
          <p:nvPr/>
        </p:nvSpPr>
        <p:spPr>
          <a:xfrm>
            <a:off x="45720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Línea base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Sistemas / Contraloría confirma</a:t>
            </a:r>
            <a:endParaRPr lang="en-US" sz="1200" dirty="0"/>
          </a:p>
        </p:txBody>
      </p:sp>
      <p:sp>
        <p:nvSpPr>
          <p:cNvPr id="7" name="Etapa E1"/>
          <p:cNvSpPr/>
          <p:nvPr/>
        </p:nvSpPr>
        <p:spPr>
          <a:xfrm>
            <a:off x="256032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2984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Universo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Sin decisión humana</a:t>
            </a:r>
            <a:endParaRPr lang="en-US" sz="1200" dirty="0"/>
          </a:p>
        </p:txBody>
      </p:sp>
      <p:sp>
        <p:nvSpPr>
          <p:cNvPr id="11" name="Etapa E2"/>
          <p:cNvSpPr/>
          <p:nvPr/>
        </p:nvSpPr>
        <p:spPr>
          <a:xfrm>
            <a:off x="466344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2984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Filtro regulatorio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Asuntos Regulatorios valida</a:t>
            </a:r>
            <a:endParaRPr lang="en-US" sz="1200" dirty="0"/>
          </a:p>
        </p:txBody>
      </p:sp>
      <p:sp>
        <p:nvSpPr>
          <p:cNvPr id="15" name="Etapa E3"/>
          <p:cNvSpPr/>
          <p:nvPr/>
        </p:nvSpPr>
        <p:spPr>
          <a:xfrm>
            <a:off x="676656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2984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Atractivo de mercado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Sin decisión humana</a:t>
            </a:r>
            <a:endParaRPr lang="en-US" sz="1200" dirty="0"/>
          </a:p>
        </p:txBody>
      </p:sp>
      <p:sp>
        <p:nvSpPr>
          <p:cNvPr id="19" name="Etapa E4"/>
          <p:cNvSpPr/>
          <p:nvPr/>
        </p:nvSpPr>
        <p:spPr>
          <a:xfrm>
            <a:off x="457200" y="29718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081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429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Hacer, Maquilar o Asociarse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977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Operaciones y Compras</a:t>
            </a:r>
            <a:endParaRPr lang="en-US" sz="1200" dirty="0"/>
          </a:p>
        </p:txBody>
      </p:sp>
      <p:sp>
        <p:nvSpPr>
          <p:cNvPr id="23" name="Etapa E5"/>
          <p:cNvSpPr/>
          <p:nvPr/>
        </p:nvSpPr>
        <p:spPr>
          <a:xfrm>
            <a:off x="2560320" y="29718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97480" y="3081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3429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Priorización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3977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David y Sara fijan los pesos</a:t>
            </a:r>
            <a:endParaRPr lang="en-US" sz="1200" dirty="0"/>
          </a:p>
        </p:txBody>
      </p:sp>
      <p:sp>
        <p:nvSpPr>
          <p:cNvPr id="27" name="Etapa E6"/>
          <p:cNvSpPr/>
          <p:nvPr/>
        </p:nvSpPr>
        <p:spPr>
          <a:xfrm>
            <a:off x="4663440" y="29718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3081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E6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3429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Compuerta 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3977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David y Sara deciden</a:t>
            </a:r>
            <a:endParaRPr lang="en-US" sz="1200" dirty="0"/>
          </a:p>
        </p:txBody>
      </p:sp>
      <p:sp>
        <p:nvSpPr>
          <p:cNvPr id="31" name="Etapa E7"/>
          <p:cNvSpPr/>
          <p:nvPr/>
        </p:nvSpPr>
        <p:spPr>
          <a:xfrm>
            <a:off x="6766560" y="29718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03720" y="3081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E7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3429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Presupuesto 2027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977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Finanzas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información va a qué herramienta</a:t>
            </a:r>
            <a:endParaRPr lang="en-US" sz="3200" dirty="0"/>
          </a:p>
        </p:txBody>
      </p:sp>
      <p:sp>
        <p:nvSpPr>
          <p:cNvPr id="3" name="Nivel 1"/>
          <p:cNvSpPr/>
          <p:nvPr/>
        </p:nvSpPr>
        <p:spPr>
          <a:xfrm>
            <a:off x="457200" y="1188720"/>
            <a:ext cx="2651760" cy="28803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Etiqueta N1"/>
          <p:cNvSpPr/>
          <p:nvPr/>
        </p:nvSpPr>
        <p:spPr>
          <a:xfrm>
            <a:off x="640080" y="1353312"/>
            <a:ext cx="82296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533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Público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Catálogo público de daclaf.com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Reportes de resultados de Hypera y Cimed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Regulación COFEPRIS y Ley General de Salud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Va a: Cualquier herramienta</a:t>
            </a:r>
            <a:endParaRPr lang="en-US" sz="1300" dirty="0"/>
          </a:p>
        </p:txBody>
      </p:sp>
      <p:sp>
        <p:nvSpPr>
          <p:cNvPr id="9" name="Nivel 2"/>
          <p:cNvSpPr/>
          <p:nvPr/>
        </p:nvSpPr>
        <p:spPr>
          <a:xfrm>
            <a:off x="3291840" y="1188720"/>
            <a:ext cx="2651760" cy="28803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Etiqueta N2"/>
          <p:cNvSpPr/>
          <p:nvPr/>
        </p:nvSpPr>
        <p:spPr>
          <a:xfrm>
            <a:off x="3474720" y="1353312"/>
            <a:ext cx="82296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3533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3533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Interno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82880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Ventas por SKU y por marca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Capacidad de Lerma y lista de maquiladores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Va a: Solo el Project compartido y el corpus cerrado</a:t>
            </a:r>
            <a:endParaRPr lang="en-US" sz="1300" dirty="0"/>
          </a:p>
        </p:txBody>
      </p:sp>
      <p:sp>
        <p:nvSpPr>
          <p:cNvPr id="15" name="Nivel 3"/>
          <p:cNvSpPr/>
          <p:nvPr/>
        </p:nvSpPr>
        <p:spPr>
          <a:xfrm>
            <a:off x="6126480" y="1188720"/>
            <a:ext cx="2651760" cy="28803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Etiqueta N3"/>
          <p:cNvSpPr/>
          <p:nvPr/>
        </p:nvSpPr>
        <p:spPr>
          <a:xfrm>
            <a:off x="6309360" y="1353312"/>
            <a:ext cx="82296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3533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3533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Crítico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82880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Costos y márgenes por SKU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Presupuesto 2027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Contratos y licitación 2027 de Similares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Va a: Solo el Project compartido; a otras herramientas, únicamente como índice relativo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Regla mínima propuesta: a herramientas externas solo va información pública o anonimizada (pregunta 10).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Ruta al 18 de diciembre</a:t>
            </a:r>
            <a:endParaRPr lang="en-US" sz="3200" dirty="0"/>
          </a:p>
        </p:txBody>
      </p:sp>
      <p:sp>
        <p:nvSpPr>
          <p:cNvPr id="3" name="Linea de tiempo"/>
          <p:cNvSpPr/>
          <p:nvPr/>
        </p:nvSpPr>
        <p:spPr>
          <a:xfrm>
            <a:off x="685800" y="2423160"/>
            <a:ext cx="77724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28 oct</a:t>
            </a:r>
            <a:endParaRPr lang="en-US" sz="1400" dirty="0"/>
          </a:p>
        </p:txBody>
      </p:sp>
      <p:sp>
        <p:nvSpPr>
          <p:cNvPr id="5" name="Hito 28 oct"/>
          <p:cNvSpPr/>
          <p:nvPr/>
        </p:nvSpPr>
        <p:spPr>
          <a:xfrm>
            <a:off x="1014984" y="2295144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788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Sesión de arranque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2900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Decisiones y respuestas de hoy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847088" y="1737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29–31 oct</a:t>
            </a:r>
            <a:endParaRPr lang="en-US" sz="1400" dirty="0"/>
          </a:p>
        </p:txBody>
      </p:sp>
      <p:sp>
        <p:nvSpPr>
          <p:cNvPr id="9" name="Hito 29–31 oct"/>
          <p:cNvSpPr/>
          <p:nvPr/>
        </p:nvSpPr>
        <p:spPr>
          <a:xfrm>
            <a:off x="2404872" y="229514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47088" y="2788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Línea base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847088" y="342900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Maestro de artículos y ventas por SKU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36976" y="1737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3–13 nov</a:t>
            </a:r>
            <a:endParaRPr lang="en-US" sz="1400" dirty="0"/>
          </a:p>
        </p:txBody>
      </p:sp>
      <p:sp>
        <p:nvSpPr>
          <p:cNvPr id="13" name="Hito 3–13 nov"/>
          <p:cNvSpPr/>
          <p:nvPr/>
        </p:nvSpPr>
        <p:spPr>
          <a:xfrm>
            <a:off x="3794760" y="229514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36976" y="2788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Embudo v1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36976" y="342900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Universo, filtro regulatorio, mercado y primer ranking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26864" y="1737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13 nov</a:t>
            </a:r>
            <a:endParaRPr lang="en-US" sz="1400" dirty="0"/>
          </a:p>
        </p:txBody>
      </p:sp>
      <p:sp>
        <p:nvSpPr>
          <p:cNvPr id="17" name="Hito 13 nov"/>
          <p:cNvSpPr/>
          <p:nvPr/>
        </p:nvSpPr>
        <p:spPr>
          <a:xfrm>
            <a:off x="5184648" y="2295144"/>
            <a:ext cx="256032" cy="256032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26864" y="2788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Entrega parcial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26864" y="342900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Ranking preliminar y guía de uso del Project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16752" y="1737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17 nov – 3 dic</a:t>
            </a:r>
            <a:endParaRPr lang="en-US" sz="1400" dirty="0"/>
          </a:p>
        </p:txBody>
      </p:sp>
      <p:sp>
        <p:nvSpPr>
          <p:cNvPr id="21" name="Hito 17 nov – 3 dic"/>
          <p:cNvSpPr/>
          <p:nvPr/>
        </p:nvSpPr>
        <p:spPr>
          <a:xfrm>
            <a:off x="6574536" y="2295144"/>
            <a:ext cx="256032" cy="256032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16752" y="2788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Pausa del consultor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016752" y="342900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Sin construcción nueva; consultas básicas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1737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4–18 dic</a:t>
            </a:r>
            <a:endParaRPr lang="en-US" sz="1400" dirty="0"/>
          </a:p>
        </p:txBody>
      </p:sp>
      <p:sp>
        <p:nvSpPr>
          <p:cNvPr id="25" name="Hito 4–18 dic"/>
          <p:cNvSpPr/>
          <p:nvPr/>
        </p:nvSpPr>
        <p:spPr>
          <a:xfrm>
            <a:off x="7964424" y="229514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2788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Cierre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342900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Make/Buy, shortlist, fichas de Compuerta 1 y Presupuesto 2027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Cuatro decisiones para hoy</a:t>
            </a:r>
            <a:endParaRPr lang="en-US" sz="3200" dirty="0"/>
          </a:p>
        </p:txBody>
      </p:sp>
      <p:sp>
        <p:nvSpPr>
          <p:cNvPr id="3" name="Decision 1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Numero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Definir la meta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1051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300 SKUs en cartera o 300 lanzamientos; qué cuenta como SKU y en qué plazo.</a:t>
            </a:r>
            <a:endParaRPr lang="en-US" sz="1400" dirty="0"/>
          </a:p>
        </p:txBody>
      </p:sp>
      <p:sp>
        <p:nvSpPr>
          <p:cNvPr id="8" name="Decision 2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Numero 2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Aprobar reglas de datos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81051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Project compartido para ustedes; solo información pública hacia herramientas externas.</a:t>
            </a:r>
            <a:endParaRPr lang="en-US" sz="1400" dirty="0"/>
          </a:p>
        </p:txBody>
      </p:sp>
      <p:sp>
        <p:nvSpPr>
          <p:cNvPr id="13" name="Decision 3"/>
          <p:cNvSpPr/>
          <p:nvPr/>
        </p:nvSpPr>
        <p:spPr>
          <a:xfrm>
            <a:off x="457200" y="283464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Numero 3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Comprometer la línea base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4564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Quién entrega el maestro de artículos y las ventas por SKU, y para cuándo.</a:t>
            </a:r>
            <a:endParaRPr lang="en-US" sz="1400" dirty="0"/>
          </a:p>
        </p:txBody>
      </p:sp>
      <p:sp>
        <p:nvSpPr>
          <p:cNvPr id="18" name="Decision 4"/>
          <p:cNvSpPr/>
          <p:nvPr/>
        </p:nvSpPr>
        <p:spPr>
          <a:xfrm>
            <a:off x="4663440" y="283464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Numero 4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Nombrar contrapartes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4564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Asuntos Regulatorios, Operaciones/Lerma y Finanzas; fecha de la siguiente sesión.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Preguntas en vivo · 1 de 3</a:t>
            </a:r>
            <a:endParaRPr lang="en-US" sz="3200" dirty="0"/>
          </a:p>
        </p:txBody>
      </p:sp>
      <p:sp>
        <p:nvSpPr>
          <p:cNvPr id="3" name="Pregunta Q1"/>
          <p:cNvSpPr/>
          <p:nvPr/>
        </p:nvSpPr>
        <p:spPr>
          <a:xfrm>
            <a:off x="457200" y="1188720"/>
            <a:ext cx="8229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Id Q1"/>
          <p:cNvSpPr/>
          <p:nvPr/>
        </p:nvSpPr>
        <p:spPr>
          <a:xfrm>
            <a:off x="594360" y="1380744"/>
            <a:ext cx="54864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807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88720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¿300 en cartera o 300 lanzamientos?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Responde: David y Sara · Meta</a:t>
            </a:r>
            <a:endParaRPr lang="en-US" sz="1800" dirty="0"/>
          </a:p>
        </p:txBody>
      </p:sp>
      <p:sp>
        <p:nvSpPr>
          <p:cNvPr id="7" name="Pregunta Q2"/>
          <p:cNvSpPr/>
          <p:nvPr/>
        </p:nvSpPr>
        <p:spPr>
          <a:xfrm>
            <a:off x="457200" y="2057400"/>
            <a:ext cx="8229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Id Q2"/>
          <p:cNvSpPr/>
          <p:nvPr/>
        </p:nvSpPr>
        <p:spPr>
          <a:xfrm>
            <a:off x="594360" y="2249424"/>
            <a:ext cx="54864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249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057400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¿Plazo de 2 o de 3 años?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Responde: David · Meta</a:t>
            </a:r>
            <a:endParaRPr lang="en-US" sz="1800" dirty="0"/>
          </a:p>
        </p:txBody>
      </p:sp>
      <p:sp>
        <p:nvSpPr>
          <p:cNvPr id="11" name="Pregunta Q3"/>
          <p:cNvSpPr/>
          <p:nvPr/>
        </p:nvSpPr>
        <p:spPr>
          <a:xfrm>
            <a:off x="457200" y="2926080"/>
            <a:ext cx="8229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Id Q3"/>
          <p:cNvSpPr/>
          <p:nvPr/>
        </p:nvSpPr>
        <p:spPr>
          <a:xfrm>
            <a:off x="594360" y="3118104"/>
            <a:ext cx="54864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181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926080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¿Quién entrega maestro y ventas, y cuándo?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Responde: David y Sara · Línea base</a:t>
            </a:r>
            <a:endParaRPr lang="en-US" sz="1800" dirty="0"/>
          </a:p>
        </p:txBody>
      </p:sp>
      <p:sp>
        <p:nvSpPr>
          <p:cNvPr id="15" name="Pregunta Q4"/>
          <p:cNvSpPr/>
          <p:nvPr/>
        </p:nvSpPr>
        <p:spPr>
          <a:xfrm>
            <a:off x="457200" y="3794760"/>
            <a:ext cx="8229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Id Q4"/>
          <p:cNvSpPr/>
          <p:nvPr/>
        </p:nvSpPr>
        <p:spPr>
          <a:xfrm>
            <a:off x="594360" y="3986784"/>
            <a:ext cx="54864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9867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94760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¿Dónde se atora hoy un lanzamiento?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Responde: Sara · Proceso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Preguntas en vivo · 2 de 3</a:t>
            </a:r>
            <a:endParaRPr lang="en-US" sz="3200" dirty="0"/>
          </a:p>
        </p:txBody>
      </p:sp>
      <p:sp>
        <p:nvSpPr>
          <p:cNvPr id="3" name="Pregunta Q5"/>
          <p:cNvSpPr/>
          <p:nvPr/>
        </p:nvSpPr>
        <p:spPr>
          <a:xfrm>
            <a:off x="457200" y="1188720"/>
            <a:ext cx="8229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Id Q5"/>
          <p:cNvSpPr/>
          <p:nvPr/>
        </p:nvSpPr>
        <p:spPr>
          <a:xfrm>
            <a:off x="594360" y="1380744"/>
            <a:ext cx="54864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807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88720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¿Extender marcas, crear o adquirir?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Responde: David y Sara · Portafolio</a:t>
            </a:r>
            <a:endParaRPr lang="en-US" sz="1800" dirty="0"/>
          </a:p>
        </p:txBody>
      </p:sp>
      <p:sp>
        <p:nvSpPr>
          <p:cNvPr id="7" name="Pregunta Q6"/>
          <p:cNvSpPr/>
          <p:nvPr/>
        </p:nvSpPr>
        <p:spPr>
          <a:xfrm>
            <a:off x="457200" y="2057400"/>
            <a:ext cx="8229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Id Q6"/>
          <p:cNvSpPr/>
          <p:nvPr/>
        </p:nvSpPr>
        <p:spPr>
          <a:xfrm>
            <a:off x="594360" y="2249424"/>
            <a:ext cx="54864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249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057400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¿Qué fabrica Lerma y qué va a maquila?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Responde: David · Fabricación</a:t>
            </a:r>
            <a:endParaRPr lang="en-US" sz="1800" dirty="0"/>
          </a:p>
        </p:txBody>
      </p:sp>
      <p:sp>
        <p:nvSpPr>
          <p:cNvPr id="11" name="Pregunta Q7"/>
          <p:cNvSpPr/>
          <p:nvPr/>
        </p:nvSpPr>
        <p:spPr>
          <a:xfrm>
            <a:off x="457200" y="2926080"/>
            <a:ext cx="8229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Id Q7"/>
          <p:cNvSpPr/>
          <p:nvPr/>
        </p:nvSpPr>
        <p:spPr>
          <a:xfrm>
            <a:off x="594360" y="3118104"/>
            <a:ext cx="54864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181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Q7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926080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¿Registros OTC extensibles y quién valida?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Responde: David y Sara · Regulatorio</a:t>
            </a:r>
            <a:endParaRPr lang="en-US" sz="1800" dirty="0"/>
          </a:p>
        </p:txBody>
      </p:sp>
      <p:sp>
        <p:nvSpPr>
          <p:cNvPr id="15" name="Pregunta Q8"/>
          <p:cNvSpPr/>
          <p:nvPr/>
        </p:nvSpPr>
        <p:spPr>
          <a:xfrm>
            <a:off x="457200" y="3794760"/>
            <a:ext cx="8229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Id Q8"/>
          <p:cNvSpPr/>
          <p:nvPr/>
        </p:nvSpPr>
        <p:spPr>
          <a:xfrm>
            <a:off x="594360" y="3986784"/>
            <a:ext cx="54864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9867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Q8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94760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¿Cuándo un SKU se considera exitoso?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Responde: David · Criterios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Preguntas en vivo · 3 de 3</a:t>
            </a:r>
            <a:endParaRPr lang="en-US" sz="3200" dirty="0"/>
          </a:p>
        </p:txBody>
      </p:sp>
      <p:sp>
        <p:nvSpPr>
          <p:cNvPr id="3" name="Pregunta Q9"/>
          <p:cNvSpPr/>
          <p:nvPr/>
        </p:nvSpPr>
        <p:spPr>
          <a:xfrm>
            <a:off x="457200" y="1188720"/>
            <a:ext cx="47548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Id Q9"/>
          <p:cNvSpPr/>
          <p:nvPr/>
        </p:nvSpPr>
        <p:spPr>
          <a:xfrm>
            <a:off x="594360" y="1531620"/>
            <a:ext cx="54864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316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887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¿Hay techo para el Presupuesto 2027?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Responde: David</a:t>
            </a:r>
            <a:endParaRPr lang="en-US" sz="1400" dirty="0"/>
          </a:p>
        </p:txBody>
      </p:sp>
      <p:sp>
        <p:nvSpPr>
          <p:cNvPr id="7" name="Pregunta Q10"/>
          <p:cNvSpPr/>
          <p:nvPr/>
        </p:nvSpPr>
        <p:spPr>
          <a:xfrm>
            <a:off x="457200" y="2377440"/>
            <a:ext cx="47548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Id Q10"/>
          <p:cNvSpPr/>
          <p:nvPr/>
        </p:nvSpPr>
        <p:spPr>
          <a:xfrm>
            <a:off x="594360" y="2720340"/>
            <a:ext cx="54864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7203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Q10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774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¿Autoriza el Project compartido y las reglas de datos?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Responde: David</a:t>
            </a:r>
            <a:endParaRPr lang="en-US" sz="1400" dirty="0"/>
          </a:p>
        </p:txBody>
      </p:sp>
      <p:sp>
        <p:nvSpPr>
          <p:cNvPr id="11" name="Si da tiempo"/>
          <p:cNvSpPr/>
          <p:nvPr/>
        </p:nvSpPr>
        <p:spPr>
          <a:xfrm>
            <a:off x="5440680" y="1188720"/>
            <a:ext cx="3246120" cy="333756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 da tiempo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173736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Q11 · ¿Quién es dueño del acelerador?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Q12 · ¿Cuánta novedad absorben los canales?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Q13 · ¿Exploramos suplementos para mascotas?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Q14 · ¿Qué documentos y cuándo nos vemos?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CLAF Sesion">
  <a:themeElements>
    <a:clrScheme name="DACLAF Sesion">
      <a:dk1>
        <a:srgbClr val="0F2A2E"/>
      </a:dk1>
      <a:lt1>
        <a:srgbClr val="FFFFFF"/>
      </a:lt1>
      <a:dk2>
        <a:srgbClr val="1D4E54"/>
      </a:dk2>
      <a:lt2>
        <a:srgbClr val="F4F6F3"/>
      </a:lt2>
      <a:accent1>
        <a:srgbClr val="E8A33D"/>
      </a:accent1>
      <a:accent2>
        <a:srgbClr val="2A9D8F"/>
      </a:accent2>
      <a:accent3>
        <a:srgbClr val="C8553D"/>
      </a:accent3>
      <a:accent4>
        <a:srgbClr val="5B6B6E"/>
      </a:accent4>
      <a:accent5>
        <a:srgbClr val="D7EFE9"/>
      </a:accent5>
      <a:accent6>
        <a:srgbClr val="D9DED6"/>
      </a:accent6>
      <a:hlink>
        <a:srgbClr val="1D4E54"/>
      </a:hlink>
      <a:folHlink>
        <a:srgbClr val="5B6B6E"/>
      </a:folHlink>
    </a:clrScheme>
    <a:fontScheme name="DACLAF Se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Practical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Acelerar el B2C: sistema de inteligencia para llegar a 300 SKUs</dc:title>
  <dc:subject>PptxGenJS Presentation</dc:subject>
  <dc:creator>Practical AI</dc:creator>
  <cp:lastModifiedBy>Practical AI</cp:lastModifiedBy>
  <cp:revision>1</cp:revision>
  <dcterms:created xsi:type="dcterms:W3CDTF">2026-10-28T17:05:05Z</dcterms:created>
  <dcterms:modified xsi:type="dcterms:W3CDTF">2026-10-28T17:05:05Z</dcterms:modified>
</cp:coreProperties>
</file>